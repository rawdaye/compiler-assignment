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71750" y="444500"/>
            <a:ext cx="8601710" cy="6718300"/>
          </a:xfrm>
        </p:spPr>
        <p:txBody>
          <a:bodyPr/>
          <a:p>
            <a:pPr>
              <a:lnSpc>
                <a:spcPct val="150000"/>
              </a:lnSpc>
            </a:pPr>
            <a:r>
              <a:rPr lang="en-US"/>
              <a:t>Principles of Compiler Design</a:t>
            </a:r>
            <a:br>
              <a:rPr lang="en-US"/>
            </a:br>
            <a:r>
              <a:rPr lang="en-US"/>
              <a:t>Name - Rawda Seid Ali</a:t>
            </a:r>
            <a:br>
              <a:rPr lang="en-US"/>
            </a:br>
            <a:r>
              <a:rPr lang="en-US"/>
              <a:t>ID - BDU1507506</a:t>
            </a:r>
            <a:br>
              <a:rPr lang="en-US"/>
            </a:br>
            <a:r>
              <a:rPr lang="en-US"/>
              <a:t>Section A</a:t>
            </a:r>
            <a:br>
              <a:rPr lang="en-US"/>
            </a:br>
            <a:r>
              <a:rPr lang="en-US"/>
              <a:t>Assignment 02: </a:t>
            </a:r>
            <a:br>
              <a:rPr lang="en-US"/>
            </a:br>
            <a:r>
              <a:rPr lang="en-US" altLang="en-US"/>
              <a:t>52.What is an LALR parser?</a:t>
            </a:r>
            <a:br>
              <a:rPr lang="en-US"/>
            </a:br>
            <a:br>
              <a:rPr lang="en-US"/>
            </a:br>
            <a:r>
              <a:rPr lang="en-US"/>
              <a:t> </a:t>
            </a:r>
            <a:br>
              <a:rPr lang="en-US"/>
            </a:b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What is an LALR Parser?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682615"/>
          </a:xfrm>
        </p:spPr>
        <p:txBody>
          <a:bodyPr/>
          <a:p>
            <a:r>
              <a:rPr lang="en-US" altLang="en-US"/>
              <a:t>An LALR parser stands for Look-Ahead LR parser.</a:t>
            </a:r>
            <a:endParaRPr lang="en-US" altLang="en-US"/>
          </a:p>
          <a:p>
            <a:r>
              <a:rPr lang="en-US" altLang="en-US"/>
              <a:t>LALR parsing is a bottom-up parsing technique used in compiler design that combines the power of LR parsers with the efficiency of SLR parsers by merging LR(1) states that have identical cores.</a:t>
            </a:r>
            <a:endParaRPr lang="en-US" altLang="en-US"/>
          </a:p>
          <a:p>
            <a:r>
              <a:rPr lang="en-US" altLang="en-US"/>
              <a:t>In simple terms:</a:t>
            </a:r>
            <a:endParaRPr lang="en-US" altLang="en-US"/>
          </a:p>
          <a:p>
            <a:r>
              <a:rPr lang="en-US" altLang="en-US"/>
              <a:t>It is a type of LR parser</a:t>
            </a:r>
            <a:endParaRPr lang="en-US" altLang="en-US"/>
          </a:p>
          <a:p>
            <a:r>
              <a:rPr lang="en-US" altLang="en-US"/>
              <a:t>It uses 1 lookahead symbol</a:t>
            </a:r>
            <a:endParaRPr lang="en-US" altLang="en-US"/>
          </a:p>
          <a:p>
            <a:r>
              <a:rPr lang="en-US" altLang="en-US"/>
              <a:t>It produces smaller parsing tables than LR(1)</a:t>
            </a:r>
            <a:endParaRPr lang="en-US" altLang="en-US"/>
          </a:p>
          <a:p>
            <a:r>
              <a:rPr lang="en-US" altLang="en-US"/>
              <a:t>It is widely used in real-world compiler generators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Why do we need LALR parsers?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LR(1) parsers are very powerful but produce very large parsing tables</a:t>
            </a:r>
            <a:endParaRPr lang="en-US" altLang="en-US"/>
          </a:p>
          <a:p>
            <a:r>
              <a:rPr lang="en-US" altLang="en-US"/>
              <a:t>SLR parsers are smaller but less powerful</a:t>
            </a:r>
            <a:endParaRPr lang="en-US" altLang="en-US"/>
          </a:p>
          <a:p>
            <a:r>
              <a:rPr lang="en-US" altLang="en-US"/>
              <a:t>LALR parsers strike a balance: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- Almost as powerful as LR(1)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- Almost as small as SLR</a:t>
            </a:r>
            <a:endParaRPr lang="en-US" altLang="en-US"/>
          </a:p>
          <a:p>
            <a:r>
              <a:rPr lang="en-US" altLang="en-US"/>
              <a:t>Because of this balance, LALR parsers are the most commonly used parsers in practice.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Where LALR Fits in the Compiler Design Process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6375" y="772795"/>
            <a:ext cx="11376025" cy="5916930"/>
          </a:xfrm>
        </p:spPr>
        <p:txBody>
          <a:bodyPr/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Source Code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      ↓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Lexical Analysis (tokens)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Syntax Analysis (LALR Parser here)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Semantic Analysis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Intermediate Code Generation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Optimization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       ↓</a:t>
            </a:r>
            <a:endParaRPr lang="en-US" altLang="en-US"/>
          </a:p>
          <a:p>
            <a:pPr marL="0" indent="0">
              <a:lnSpc>
                <a:spcPct val="60000"/>
              </a:lnSpc>
              <a:buNone/>
            </a:pPr>
            <a:r>
              <a:rPr lang="en-US" altLang="en-US"/>
              <a:t>Target Code Generation</a:t>
            </a:r>
            <a:endParaRPr lang="en-US" altLang="en-US"/>
          </a:p>
          <a:p>
            <a:r>
              <a:rPr lang="en-US" altLang="en-US"/>
              <a:t>The LALR parser checks whether the sequence of tokens follows the grammar rules of the programming language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How an LALR Parser Works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4065"/>
            <a:ext cx="10972800" cy="6083935"/>
          </a:xfrm>
        </p:spPr>
        <p:txBody>
          <a:bodyPr/>
          <a:p>
            <a:r>
              <a:rPr lang="en-US" altLang="en-US"/>
              <a:t>An LALR parser is a bottom-up parser, meaning: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- It starts from the input tokens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 - Tries to reduce them back to the start symbol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Core ideas: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-Uses LR(1) items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Merges states that have the same LR(0) core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Keeps necessary lookahead symbols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Uses a parsing table with: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- ACTION (shift, reduce, accept)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 - GOTO entries</a:t>
            </a: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Comparison with Other LR Parsers</a:t>
            </a:r>
            <a:endParaRPr lang="en-US" altLang="en-US"/>
          </a:p>
        </p:txBody>
      </p:sp>
      <p:graphicFrame>
        <p:nvGraphicFramePr>
          <p:cNvPr id="4" name="Content Placeholder 3"/>
          <p:cNvGraphicFramePr/>
          <p:nvPr>
            <p:ph idx="1"/>
            <p:custDataLst>
              <p:tags r:id="rId1"/>
            </p:custDataLst>
          </p:nvPr>
        </p:nvGraphicFramePr>
        <p:xfrm>
          <a:off x="609600" y="1174750"/>
          <a:ext cx="9981565" cy="3360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430"/>
                <a:gridCol w="2155190"/>
                <a:gridCol w="2723515"/>
                <a:gridCol w="2551430"/>
              </a:tblGrid>
              <a:tr h="840105"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Parser Type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Power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Table Size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400">
                          <a:latin typeface="Times New Roman" panose="02020603050405020304" charset="0"/>
                          <a:cs typeface="Times New Roman" panose="02020603050405020304" charset="0"/>
                        </a:rPr>
                        <a:t>Practical Use</a:t>
                      </a:r>
                      <a:endParaRPr sz="24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40105"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SLR(1)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40105"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  <a:tr h="840105"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LALR(1)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LALR(1)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LALR(1)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sz="2000">
                          <a:latin typeface="Times New Roman" panose="02020603050405020304" charset="0"/>
                          <a:cs typeface="Times New Roman" panose="02020603050405020304" charset="0"/>
                        </a:rPr>
                        <a:t>LALR(1)</a:t>
                      </a:r>
                      <a:endParaRPr sz="200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26" name="Text Box 25"/>
          <p:cNvSpPr txBox="1"/>
          <p:nvPr/>
        </p:nvSpPr>
        <p:spPr>
          <a:xfrm>
            <a:off x="317500" y="4780915"/>
            <a:ext cx="7962265" cy="4711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000">
                <a:latin typeface="Times New Roman" panose="02020603050405020304" charset="0"/>
                <a:cs typeface="Times New Roman" panose="02020603050405020304" charset="0"/>
              </a:rPr>
              <a:t>LALR is the industry standard choic</a:t>
            </a:r>
            <a:r>
              <a:rPr lang="en-US" altLang="en-US"/>
              <a:t>e.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Example (Simple Grammar)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Consider this grammar: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 → E + 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 → T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T → id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Input: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id + id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7650"/>
            <a:ext cx="10972800" cy="6261735"/>
          </a:xfrm>
        </p:spPr>
        <p:txBody>
          <a:bodyPr/>
          <a:p>
            <a:pPr marL="0" indent="0">
              <a:buNone/>
            </a:pPr>
            <a:r>
              <a:rPr lang="en-US" altLang="en-US"/>
              <a:t>Parsing Process: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1. Tokens from lexer: id, +, id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2. LALR parser: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Shifts tokens onto stack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Applies reductions using grammar rules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3. Accepts input if it reduces to start symbol E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LALR ensures:</a:t>
            </a:r>
            <a:endParaRPr lang="en-US" altLang="en-US"/>
          </a:p>
          <a:p>
            <a:r>
              <a:rPr lang="en-US" altLang="en-US"/>
              <a:t>Correct operator precedence</a:t>
            </a:r>
            <a:endParaRPr lang="en-US" altLang="en-US"/>
          </a:p>
          <a:p>
            <a:r>
              <a:rPr lang="en-US" altLang="en-US"/>
              <a:t>Correct associativity</a:t>
            </a:r>
            <a:endParaRPr lang="en-US" altLang="en-US"/>
          </a:p>
          <a:p>
            <a:r>
              <a:rPr lang="en-US" altLang="en-US"/>
              <a:t>Syntax correctness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685165"/>
          </a:xfrm>
        </p:spPr>
        <p:txBody>
          <a:bodyPr/>
          <a:p>
            <a:r>
              <a:rPr lang="en-US" altLang="en-US"/>
              <a:t>Diagram Explanation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25830"/>
            <a:ext cx="10972800" cy="5931535"/>
          </a:xfrm>
        </p:spPr>
        <p:txBody>
          <a:bodyPr/>
          <a:p>
            <a:r>
              <a:rPr lang="en-US" altLang="en-US"/>
              <a:t>LALR Parsing Components: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+mj-ea"/>
                <a:ea typeface="+mj-ea"/>
              </a:rPr>
              <a:t>Input Buffer → LALR Parser → Parse Tree</a:t>
            </a:r>
            <a:endParaRPr lang="en-US" altLang="en-US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en-US">
                <a:latin typeface="+mj-ea"/>
                <a:ea typeface="+mj-ea"/>
              </a:rPr>
              <a:t>                  ↑</a:t>
            </a:r>
            <a:endParaRPr lang="en-US" altLang="en-US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en-US">
                <a:latin typeface="+mj-ea"/>
                <a:ea typeface="+mj-ea"/>
              </a:rPr>
              <a:t>              Parsing Table</a:t>
            </a:r>
            <a:endParaRPr lang="en-US" altLang="en-US">
              <a:latin typeface="+mj-ea"/>
              <a:ea typeface="+mj-ea"/>
            </a:endParaRPr>
          </a:p>
          <a:p>
            <a:pPr marL="0" indent="0">
              <a:buNone/>
            </a:pPr>
            <a:r>
              <a:rPr lang="en-US" altLang="en-US"/>
              <a:t>Or state merging idea:</a:t>
            </a:r>
            <a:endParaRPr lang="en-US" altLang="en-US"/>
          </a:p>
          <a:p>
            <a:pPr marL="0" indent="0">
              <a:buNone/>
            </a:pPr>
            <a:r>
              <a:rPr lang="en-US" altLang="en-US">
                <a:latin typeface="+mn-ea"/>
              </a:rPr>
              <a:t>LR(1) States</a:t>
            </a:r>
            <a:endParaRPr lang="en-US" altLang="en-US">
              <a:latin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</a:rPr>
              <a:t>   ↓</a:t>
            </a:r>
            <a:endParaRPr lang="en-US" altLang="en-US">
              <a:latin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</a:rPr>
              <a:t>Merge states with same core</a:t>
            </a:r>
            <a:endParaRPr lang="en-US" altLang="en-US">
              <a:latin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</a:rPr>
              <a:t>   ↓</a:t>
            </a:r>
            <a:endParaRPr lang="en-US" altLang="en-US">
              <a:latin typeface="+mn-ea"/>
            </a:endParaRPr>
          </a:p>
          <a:p>
            <a:pPr marL="0" indent="0">
              <a:buNone/>
            </a:pPr>
            <a:r>
              <a:rPr lang="en-US" altLang="en-US">
                <a:latin typeface="+mn-ea"/>
              </a:rPr>
              <a:t>LALR States</a:t>
            </a:r>
            <a:endParaRPr lang="en-US" altLang="en-US">
              <a:latin typeface="+mn-ea"/>
            </a:endParaRPr>
          </a:p>
          <a:p>
            <a:pPr marL="0" indent="0">
              <a:buNone/>
            </a:pPr>
            <a:endParaRPr lang="en-US" altLang="en-US">
              <a:latin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Real-World Applications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682615"/>
          </a:xfrm>
        </p:spPr>
        <p:txBody>
          <a:bodyPr/>
          <a:p>
            <a:r>
              <a:rPr lang="en-US" altLang="en-US"/>
              <a:t>LALR parsers are used in: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YACC (Yet Another Compiler Compiler)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Bison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C and C++ compilers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Java language tools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    - SQL parsers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Example:</a:t>
            </a:r>
            <a:endParaRPr lang="en-US" altLang="en-US"/>
          </a:p>
          <a:p>
            <a:r>
              <a:rPr lang="en-US" altLang="en-US"/>
              <a:t>YACC generates LALR(1) parsers for programming languages like C.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Advantages of LALR Parsers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Efficient memory usage</a:t>
            </a:r>
            <a:endParaRPr lang="en-US" altLang="en-US"/>
          </a:p>
          <a:p>
            <a:r>
              <a:rPr lang="en-US" altLang="en-US"/>
              <a:t>Handles most programming language grammars</a:t>
            </a:r>
            <a:endParaRPr lang="en-US" altLang="en-US"/>
          </a:p>
          <a:p>
            <a:r>
              <a:rPr lang="en-US" altLang="en-US"/>
              <a:t>Faster parsing</a:t>
            </a:r>
            <a:endParaRPr lang="en-US" altLang="en-US"/>
          </a:p>
          <a:p>
            <a:r>
              <a:rPr lang="en-US" altLang="en-US"/>
              <a:t>Practical and scalable</a:t>
            </a:r>
            <a:endParaRPr lang="en-US" altLang="en-US"/>
          </a:p>
          <a:p>
            <a:r>
              <a:rPr lang="en-US" altLang="en-US"/>
              <a:t>Industry-proven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Limitations of LALR Parsers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Slightly less powerful than full LR(1)</a:t>
            </a:r>
            <a:endParaRPr lang="en-US" altLang="en-US"/>
          </a:p>
          <a:p>
            <a:r>
              <a:rPr lang="en-US" altLang="en-US"/>
              <a:t>Merging states may introduce conflicts</a:t>
            </a:r>
            <a:endParaRPr lang="en-US" altLang="en-US"/>
          </a:p>
          <a:p>
            <a:r>
              <a:rPr lang="en-US" altLang="en-US"/>
              <a:t>Grammar must be carefully designed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An LALR parser is a powerful and efficient bottom-up parser</a:t>
            </a:r>
            <a:endParaRPr lang="en-US" altLang="en-US"/>
          </a:p>
          <a:p>
            <a:r>
              <a:rPr lang="en-US" altLang="en-US"/>
              <a:t>It combines LR(1) accuracy with SLR table size</a:t>
            </a:r>
            <a:endParaRPr lang="en-US" altLang="en-US"/>
          </a:p>
          <a:p>
            <a:r>
              <a:rPr lang="en-US" altLang="en-US"/>
              <a:t>It is used in modern compiler construction</a:t>
            </a:r>
            <a:endParaRPr lang="en-US" altLang="en-US"/>
          </a:p>
          <a:p>
            <a:r>
              <a:rPr lang="en-US" altLang="en-US"/>
              <a:t>It plays a critical role in syntax analysis</a:t>
            </a:r>
            <a:endParaRPr lang="en-US" altLang="en-US"/>
          </a:p>
          <a:p>
            <a:r>
              <a:rPr lang="en-US" altLang="en-US"/>
              <a:t>Due to its efficiency, it is the most widely used parsing technique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References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Aho, Lam, Sethi, Ullman – Compilers: Principles, Techniques, and Tools (Dragon Book)</a:t>
            </a:r>
            <a:endParaRPr lang="en-US" altLang="en-US"/>
          </a:p>
          <a:p>
            <a:r>
              <a:rPr lang="en-US" altLang="en-US"/>
              <a:t>Alfred V. Aho – Compiler Design Lecture Notes</a:t>
            </a:r>
            <a:endParaRPr lang="en-US" altLang="en-US"/>
          </a:p>
          <a:p>
            <a:r>
              <a:rPr lang="en-US" altLang="en-US"/>
              <a:t>GNU Bison Documentation</a:t>
            </a:r>
            <a:endParaRPr lang="en-US" altLang="en-US"/>
          </a:p>
          <a:p>
            <a:r>
              <a:rPr lang="en-US" altLang="en-US"/>
              <a:t>Stanford University – Compiler Design Notes</a:t>
            </a:r>
            <a:endParaRPr lang="en-US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85*203"/>
  <p:tag name="TABLE_ENDDRAG_RECT" val="48*92*785*203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3307</Words>
  <Application>WPS Presentation</Application>
  <PresentationFormat>Widescreen</PresentationFormat>
  <Paragraphs>162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Times New Roman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Rawda Seid Ali</cp:lastModifiedBy>
  <cp:revision>3</cp:revision>
  <dcterms:created xsi:type="dcterms:W3CDTF">2025-07-23T00:59:00Z</dcterms:created>
  <dcterms:modified xsi:type="dcterms:W3CDTF">2026-01-08T07:46:59Z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C55C2AF0F4A54205B8DFF2BCBD1C5403_11</vt:lpwstr>
  </property>
  <property fmtid="{D5CDD505-2E9C-101B-9397-08002B2CF9AE}" pid="3" name="KSOProductBuildVer">
    <vt:lpwstr>1033-12.2.0.23196</vt:lpwstr>
  </property>
</Properties>
</file>